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25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/>
          <p:cNvSpPr/>
          <p:nvPr/>
        </p:nvSpPr>
        <p:spPr>
          <a:xfrm>
            <a:off x="793790" y="2260163"/>
            <a:ext cx="269295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2"/>
          <p:cNvSpPr/>
          <p:nvPr/>
        </p:nvSpPr>
        <p:spPr>
          <a:xfrm>
            <a:off x="929878" y="2328148"/>
            <a:ext cx="24207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93790" y="2777133"/>
            <a:ext cx="9426656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Northwind </a:t>
            </a:r>
          </a:p>
          <a:p>
            <a:pPr marL="0" indent="0">
              <a:buNone/>
            </a:pPr>
            <a:r>
              <a:rPr lang="en-US" sz="7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Analytics</a:t>
            </a:r>
            <a:endParaRPr lang="en-US" sz="7200" dirty="0"/>
          </a:p>
        </p:txBody>
      </p:sp>
      <p:sp>
        <p:nvSpPr>
          <p:cNvPr id="8" name="Text 4"/>
          <p:cNvSpPr/>
          <p:nvPr/>
        </p:nvSpPr>
        <p:spPr>
          <a:xfrm>
            <a:off x="793790" y="524363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guide to analysing customer behaviour, order patterns, and operational performance across six key business dimensions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C577D-F7F1-445B-B48E-7A6AAE12C8EC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51258" y="601266"/>
            <a:ext cx="1185267" cy="425768"/>
          </a:xfrm>
          <a:prstGeom prst="roundRect">
            <a:avLst>
              <a:gd name="adj" fmla="val 17246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89965" y="674370"/>
            <a:ext cx="907852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51258" y="1114425"/>
            <a:ext cx="7614285" cy="136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 and Objectives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251258" y="3026569"/>
            <a:ext cx="297037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We're Analysing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251258" y="3586401"/>
            <a:ext cx="3540562" cy="384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examines six critical business areas: customer purchasing patterns, order performance, employee productivity, product inventory, supplier relationships, and shipping efficiency. By connecting data across multiple tables, we uncover actionable insights that drive strategic decisions.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332601" y="3026569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Outcomes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32601" y="3586401"/>
            <a:ext cx="3540562" cy="314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high-value customers and churn risks, optimise inventory levels, improve delivery performance, enhance workforce planning, and strengthen supplier partnerships. These insights support marketing, sales, and operational improvements across the organisation.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A2A455-BDE4-42E6-B979-8E83CDD881A8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0029" y="575191"/>
            <a:ext cx="1300996" cy="307658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2238137" y="624245"/>
            <a:ext cx="11047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AREAS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40029" y="948214"/>
            <a:ext cx="7922657" cy="511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Six Dimensions of Business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140029" y="1704975"/>
            <a:ext cx="5093375" cy="1874044"/>
          </a:xfrm>
          <a:prstGeom prst="roundRect">
            <a:avLst>
              <a:gd name="adj" fmla="val 3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11241" y="1876187"/>
            <a:ext cx="490895" cy="490895"/>
          </a:xfrm>
          <a:prstGeom prst="roundRect">
            <a:avLst>
              <a:gd name="adj" fmla="val 18625339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6258" y="2011204"/>
            <a:ext cx="220861" cy="220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11241" y="2530673"/>
            <a:ext cx="204549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11241" y="2884408"/>
            <a:ext cx="475095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purchasing behaviour, identifying high-value customers, and tracking order frequency to reduce churn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96996" y="1704975"/>
            <a:ext cx="5093375" cy="1874044"/>
          </a:xfrm>
          <a:prstGeom prst="roundRect">
            <a:avLst>
              <a:gd name="adj" fmla="val 3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68208" y="1876187"/>
            <a:ext cx="490895" cy="490895"/>
          </a:xfrm>
          <a:prstGeom prst="roundRect">
            <a:avLst>
              <a:gd name="adj" fmla="val 18625339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3225" y="2011204"/>
            <a:ext cx="220861" cy="2208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68208" y="2530673"/>
            <a:ext cx="204549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Analysis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68208" y="2884408"/>
            <a:ext cx="475095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sales performance, tracking revenue trends, and optimising fulfillment processes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2140029" y="3742611"/>
            <a:ext cx="5093375" cy="1874044"/>
          </a:xfrm>
          <a:prstGeom prst="roundRect">
            <a:avLst>
              <a:gd name="adj" fmla="val 3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311241" y="3913823"/>
            <a:ext cx="490895" cy="490895"/>
          </a:xfrm>
          <a:prstGeom prst="roundRect">
            <a:avLst>
              <a:gd name="adj" fmla="val 18625339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6258" y="4048839"/>
            <a:ext cx="220861" cy="2208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11241" y="4568309"/>
            <a:ext cx="204549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Analysis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311241" y="4922044"/>
            <a:ext cx="475095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Examining workforce distribution, tenure patterns, and workload allocation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96996" y="3742611"/>
            <a:ext cx="5093375" cy="1874044"/>
          </a:xfrm>
          <a:prstGeom prst="roundRect">
            <a:avLst>
              <a:gd name="adj" fmla="val 3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68208" y="3913823"/>
            <a:ext cx="490895" cy="490895"/>
          </a:xfrm>
          <a:prstGeom prst="roundRect">
            <a:avLst>
              <a:gd name="adj" fmla="val 18625339"/>
            </a:avLst>
          </a:prstGeom>
          <a:solidFill>
            <a:srgbClr val="4950B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3225" y="4048839"/>
            <a:ext cx="220861" cy="2208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68208" y="4568309"/>
            <a:ext cx="204549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Analysis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68208" y="4922044"/>
            <a:ext cx="475095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Assessing inventory levels, pricing strategies, and product performance across categories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2140029" y="5780246"/>
            <a:ext cx="5093375" cy="1874044"/>
          </a:xfrm>
          <a:prstGeom prst="roundRect">
            <a:avLst>
              <a:gd name="adj" fmla="val 3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11241" y="5951458"/>
            <a:ext cx="490895" cy="490895"/>
          </a:xfrm>
          <a:prstGeom prst="roundRect">
            <a:avLst>
              <a:gd name="adj" fmla="val 18625339"/>
            </a:avLst>
          </a:prstGeom>
          <a:solidFill>
            <a:srgbClr val="4950B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46258" y="6086475"/>
            <a:ext cx="220861" cy="2208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311241" y="6605945"/>
            <a:ext cx="204549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Analysis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2311241" y="6959679"/>
            <a:ext cx="475095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supplier reliability, geographic distribution, and procurement efficiency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396996" y="5780246"/>
            <a:ext cx="5093375" cy="1874044"/>
          </a:xfrm>
          <a:prstGeom prst="roundRect">
            <a:avLst>
              <a:gd name="adj" fmla="val 3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568208" y="5951458"/>
            <a:ext cx="490895" cy="490895"/>
          </a:xfrm>
          <a:prstGeom prst="roundRect">
            <a:avLst>
              <a:gd name="adj" fmla="val 18625339"/>
            </a:avLst>
          </a:prstGeom>
          <a:solidFill>
            <a:srgbClr val="4950BC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3225" y="6086475"/>
            <a:ext cx="220861" cy="2208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68208" y="6605945"/>
            <a:ext cx="204549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Shipper Analysis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7568208" y="6959679"/>
            <a:ext cx="475095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delivery performance, shipment volume, and logistics optimisation</a:t>
            </a:r>
            <a:endParaRPr lang="en-US" sz="12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041078-0870-4253-B9C4-3D4BA5E9EC70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93244" y="367070"/>
            <a:ext cx="1012508" cy="266105"/>
          </a:xfrm>
          <a:prstGeom prst="roundRect">
            <a:avLst>
              <a:gd name="adj" fmla="val 16857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80874" y="414695"/>
            <a:ext cx="837248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093244" y="686514"/>
            <a:ext cx="5423416" cy="41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Six-Step Implementation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26713" y="1503878"/>
            <a:ext cx="133469" cy="782241"/>
          </a:xfrm>
          <a:prstGeom prst="roundRect">
            <a:avLst>
              <a:gd name="adj" fmla="val 4201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93244" y="1416368"/>
            <a:ext cx="400407" cy="400407"/>
          </a:xfrm>
          <a:prstGeom prst="roundRect">
            <a:avLst>
              <a:gd name="adj" fmla="val 114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3375" y="1516499"/>
            <a:ext cx="200144" cy="2001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27120" y="1437203"/>
            <a:ext cx="1931908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the Dataset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27120" y="1725811"/>
            <a:ext cx="7910036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all tables including Customers, Orders, OrderDetails, Products, Employees, Suppliers, Shippers, and Categories. Map relationships and identify data quality issues.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6857" y="2619851"/>
            <a:ext cx="133469" cy="782241"/>
          </a:xfrm>
          <a:prstGeom prst="roundRect">
            <a:avLst>
              <a:gd name="adj" fmla="val 4201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3388" y="2532340"/>
            <a:ext cx="400407" cy="400407"/>
          </a:xfrm>
          <a:prstGeom prst="roundRect">
            <a:avLst>
              <a:gd name="adj" fmla="val 114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3519" y="2632472"/>
            <a:ext cx="200144" cy="2001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7264" y="2553176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27264" y="2841784"/>
            <a:ext cx="7709892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data using Excel and SQL. Remove duplicates, fix formatting inconsistencies, handle missing values, and create calculated columns for analysis.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27120" y="3735824"/>
            <a:ext cx="133469" cy="782241"/>
          </a:xfrm>
          <a:prstGeom prst="roundRect">
            <a:avLst>
              <a:gd name="adj" fmla="val 4201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93651" y="3648313"/>
            <a:ext cx="400407" cy="400407"/>
          </a:xfrm>
          <a:prstGeom prst="roundRect">
            <a:avLst>
              <a:gd name="adj" fmla="val 114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3783" y="3748445"/>
            <a:ext cx="200144" cy="2001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7527" y="3669149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027527" y="3957757"/>
            <a:ext cx="7509629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SQL queries to summarise key metrics. Calculate total revenue, average order values, customer segments, and product performance indicators.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27383" y="4851797"/>
            <a:ext cx="133469" cy="782241"/>
          </a:xfrm>
          <a:prstGeom prst="roundRect">
            <a:avLst>
              <a:gd name="adj" fmla="val 4201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93914" y="4764286"/>
            <a:ext cx="400407" cy="400407"/>
          </a:xfrm>
          <a:prstGeom prst="roundRect">
            <a:avLst>
              <a:gd name="adj" fmla="val 114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4046" y="4864418"/>
            <a:ext cx="200144" cy="2001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27790" y="4785122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Modeling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27790" y="5073729"/>
            <a:ext cx="7309366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cleaned datasets, establish table relationships, and create DAX measures for revenue, customer lifetime value, and performance metrics.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27120" y="5967770"/>
            <a:ext cx="133469" cy="782241"/>
          </a:xfrm>
          <a:prstGeom prst="roundRect">
            <a:avLst>
              <a:gd name="adj" fmla="val 4201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93651" y="5880259"/>
            <a:ext cx="400407" cy="400407"/>
          </a:xfrm>
          <a:prstGeom prst="roundRect">
            <a:avLst>
              <a:gd name="adj" fmla="val 114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3783" y="5980390"/>
            <a:ext cx="200144" cy="2001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7527" y="5901095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027527" y="6189702"/>
            <a:ext cx="7509629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interactive dashboards with charts, tables, and KPIs. Display trends, comparisons, and performance metrics across all analysis dimensions.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26857" y="7083743"/>
            <a:ext cx="133469" cy="782241"/>
          </a:xfrm>
          <a:prstGeom prst="roundRect">
            <a:avLst>
              <a:gd name="adj" fmla="val 4201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293388" y="6996232"/>
            <a:ext cx="400407" cy="400407"/>
          </a:xfrm>
          <a:prstGeom prst="roundRect">
            <a:avLst>
              <a:gd name="adj" fmla="val 114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93519" y="7096363"/>
            <a:ext cx="200144" cy="2001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827264" y="7017068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&amp; Reporting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827264" y="7305675"/>
            <a:ext cx="7709892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Summarise findings and provide actionable recommendations for marketing strategies, sales optimisation, and operational improvements.</a:t>
            </a:r>
            <a:endParaRPr lang="en-US" sz="10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A2D806-C4B9-43C9-A496-5B4101FC8C83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554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5765" y="3172063"/>
            <a:ext cx="865584" cy="353973"/>
          </a:xfrm>
          <a:prstGeom prst="roundRect">
            <a:avLst>
              <a:gd name="adj" fmla="val 17887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1468755" y="3228499"/>
            <a:ext cx="63960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1-2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5765" y="3601403"/>
            <a:ext cx="11229856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Foundation: Understanding and Preparation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1355765" y="4472940"/>
            <a:ext cx="3847386" cy="2940010"/>
          </a:xfrm>
          <a:prstGeom prst="roundRect">
            <a:avLst>
              <a:gd name="adj" fmla="val 373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32905" y="4472940"/>
            <a:ext cx="91440" cy="2940010"/>
          </a:xfrm>
          <a:prstGeom prst="roundRect">
            <a:avLst>
              <a:gd name="adj" fmla="val 86555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635562" y="4684157"/>
            <a:ext cx="235541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Review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635562" y="5091470"/>
            <a:ext cx="3356372" cy="2110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by mapping all table relationships. OrderID connects Orders to OrderDetails, ProductID links Products to OrderDetails, and CustomerID ties Orders to Customers. Check for missing data and duplicates.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391507" y="4472940"/>
            <a:ext cx="3847386" cy="2940010"/>
          </a:xfrm>
          <a:prstGeom prst="roundRect">
            <a:avLst>
              <a:gd name="adj" fmla="val 373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68647" y="4472940"/>
            <a:ext cx="91440" cy="2940010"/>
          </a:xfrm>
          <a:prstGeom prst="roundRect">
            <a:avLst>
              <a:gd name="adj" fmla="val 86555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5671304" y="4684157"/>
            <a:ext cx="235541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 Preparation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671304" y="5091470"/>
            <a:ext cx="3356372" cy="180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all CSV files, remove duplicates, standardise formatting, and handle null values. Create calculated columns such as Total_price using Quantity × UnitPrice adjusted for discounts.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427250" y="4472940"/>
            <a:ext cx="3847386" cy="2940010"/>
          </a:xfrm>
          <a:prstGeom prst="roundRect">
            <a:avLst>
              <a:gd name="adj" fmla="val 373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404390" y="4472940"/>
            <a:ext cx="91440" cy="2940010"/>
          </a:xfrm>
          <a:prstGeom prst="roundRect">
            <a:avLst>
              <a:gd name="adj" fmla="val 86555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9707047" y="4684157"/>
            <a:ext cx="235541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Foundation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9707047" y="5091470"/>
            <a:ext cx="3356372" cy="180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datasets into database tables with proper primary and foreign keys. Write queries to clean data, remove duplicates, and create aggregated tables for revenue by customer, product, and region.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D424B8-907B-420B-BCBD-4EEFEC192120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19514" y="857939"/>
            <a:ext cx="4966692" cy="367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 and Modelling Excellence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319514" y="1267063"/>
            <a:ext cx="1855232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Analysis Queries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19514" y="1556385"/>
            <a:ext cx="3960733" cy="18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comprehensive queries to explore and summarise the dataset: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9514" y="1884045"/>
            <a:ext cx="3960733" cy="18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total revenue, order count, and average order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9514" y="2113121"/>
            <a:ext cx="3960733" cy="18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orders per customer and identify top-selling products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19514" y="2342198"/>
            <a:ext cx="3960733" cy="375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employee performance through orders handled and tenure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19514" y="2759273"/>
            <a:ext cx="3960733" cy="18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supplier and shipper reliability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6498" y="3429170"/>
            <a:ext cx="2035850" cy="963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Data Modeling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76498" y="3828793"/>
            <a:ext cx="6238335" cy="16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relationships between imported tables and build DAX measures including Total Revenue, Average Order Value, and Customer Lifetime Value calculations for deeper insights.</a:t>
            </a:r>
            <a:endParaRPr lang="en-US" sz="2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770" y="518874"/>
            <a:ext cx="3188494" cy="3188494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770" y="3493839"/>
            <a:ext cx="3188494" cy="31884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7C6CA4B-070B-4281-820C-CB3AF5DE55B4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1040" y="874990"/>
            <a:ext cx="1891546" cy="391597"/>
          </a:xfrm>
          <a:prstGeom prst="roundRect">
            <a:avLst>
              <a:gd name="adj" fmla="val 17187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794" y="942618"/>
            <a:ext cx="1636038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DESIGN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1040" y="1346597"/>
            <a:ext cx="5384363" cy="625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Visualisation Strategy</a:t>
            </a:r>
            <a:endParaRPr lang="en-US" sz="3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40" y="2297906"/>
            <a:ext cx="200263" cy="2002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1040" y="2590324"/>
            <a:ext cx="377082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4"/>
          <p:cNvSpPr/>
          <p:nvPr/>
        </p:nvSpPr>
        <p:spPr>
          <a:xfrm>
            <a:off x="701040" y="2736175"/>
            <a:ext cx="273724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Dashboards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01040" y="3169206"/>
            <a:ext cx="3770828" cy="1281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total revenue, top customers by spend, order frequency distribution, and customer lifetime value segments with trend analysis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2132" y="2297906"/>
            <a:ext cx="200263" cy="20026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72132" y="2590324"/>
            <a:ext cx="377082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7"/>
          <p:cNvSpPr/>
          <p:nvPr/>
        </p:nvSpPr>
        <p:spPr>
          <a:xfrm>
            <a:off x="4672132" y="2736175"/>
            <a:ext cx="2760583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&amp; Product Views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4672132" y="3169206"/>
            <a:ext cx="3770828" cy="1281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monthly and quarterly trends, average order values, discount impact, top-selling products, stock levels, and category performance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40" y="4826198"/>
            <a:ext cx="200263" cy="200263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1040" y="5118616"/>
            <a:ext cx="7741920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0"/>
          <p:cNvSpPr/>
          <p:nvPr/>
        </p:nvSpPr>
        <p:spPr>
          <a:xfrm>
            <a:off x="701040" y="5264467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Operations Metrics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701040" y="5697498"/>
            <a:ext cx="7741920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employee order handling, tenure statistics, supplier product counts, shipping performance, and delivery time analysis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01040" y="6713696"/>
            <a:ext cx="7741920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 bar charts, line graphs, pie charts, detailed tables, and prominent KPI cards to create an intuitive, actionable dashboard experience.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79019"/>
            <a:ext cx="153090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47004"/>
            <a:ext cx="12587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95989"/>
            <a:ext cx="8928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Analytical Discoveries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28417"/>
            <a:ext cx="30455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18836"/>
            <a:ext cx="304800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your most valuable customers, understand purchase frequency patterns, and detect early warning signs of potential churn risks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25278" y="3528417"/>
            <a:ext cx="2962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018836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best-selling items, optimise inventory levels, manage stock efficiently, and refine pricing strategies based on demand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528417"/>
            <a:ext cx="29154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Workforce Efficiency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56884" y="4018836"/>
            <a:ext cx="30481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employees with highest order processing rates, balance workload distribution, and support performance evaluation processes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788491" y="35284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Excellence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8491" y="4373166"/>
            <a:ext cx="30481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supplier reliability, assess shipper performance, reduce delivery times, and strengthen procurement relationships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AA698A-0C03-4AB4-B313-13A679D3CF54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436" y="1208842"/>
            <a:ext cx="1710452" cy="353616"/>
          </a:xfrm>
          <a:prstGeom prst="roundRect">
            <a:avLst>
              <a:gd name="adj" fmla="val 17115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6046" y="1270397"/>
            <a:ext cx="1479233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0436" y="1634490"/>
            <a:ext cx="6840855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Actionable Business Strategies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36" y="2467451"/>
            <a:ext cx="900589" cy="1613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11047" y="2647474"/>
            <a:ext cx="2577108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 Optimisation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711047" y="3036808"/>
            <a:ext cx="6802517" cy="86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high-value customers with personalised campaigns. Re-engage at-risk customers with retention programmes. Leverage purchase patterns for cross-selling opportunities.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36" y="4081224"/>
            <a:ext cx="900589" cy="13256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1047" y="4261247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Enhancement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711047" y="4650581"/>
            <a:ext cx="6802517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efforts on top-performing products and regions. Adjust pricing strategies based on demand analysis. Develop promotions around seasonal trends.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36" y="5406866"/>
            <a:ext cx="900589" cy="16137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11047" y="5586889"/>
            <a:ext cx="246114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Operations Excellence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711047" y="5976223"/>
            <a:ext cx="6802517" cy="86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Optimise inventory to prevent stockouts and overstock. Improve employee training based on performance gaps. Strengthen partnerships with reliable suppliers and shippers.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7895" y="1119187"/>
            <a:ext cx="5977176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1257895" y="2292310"/>
            <a:ext cx="5961578" cy="1720096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57895" y="2269450"/>
            <a:ext cx="5961578" cy="91440"/>
          </a:xfrm>
          <a:prstGeom prst="roundRect">
            <a:avLst>
              <a:gd name="adj" fmla="val 87976"/>
            </a:avLst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3951327" y="2005013"/>
            <a:ext cx="574596" cy="574596"/>
          </a:xfrm>
          <a:prstGeom prst="roundRect">
            <a:avLst>
              <a:gd name="adj" fmla="val 159138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4123730" y="2148602"/>
            <a:ext cx="229791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2208" y="2771061"/>
            <a:ext cx="3095268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 &amp; Cleaning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472208" y="3185160"/>
            <a:ext cx="5532953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all datasets and complete the preparation phase using Excel and SQL within the first two weeks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10926" y="2292310"/>
            <a:ext cx="5961578" cy="1720096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10926" y="2269450"/>
            <a:ext cx="5961578" cy="91440"/>
          </a:xfrm>
          <a:prstGeom prst="roundRect">
            <a:avLst>
              <a:gd name="adj" fmla="val 87976"/>
            </a:avLst>
          </a:prstGeom>
          <a:solidFill>
            <a:srgbClr val="4950B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04358" y="2005013"/>
            <a:ext cx="574596" cy="574596"/>
          </a:xfrm>
          <a:prstGeom prst="roundRect">
            <a:avLst>
              <a:gd name="adj" fmla="val 159138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76761" y="2148602"/>
            <a:ext cx="229791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5239" y="2771061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 &amp; Modeling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625239" y="3185160"/>
            <a:ext cx="5532953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SQL queries, build Power BI data models, and create DAX measures over the following three weeks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57895" y="4491157"/>
            <a:ext cx="5961578" cy="1720096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57895" y="4468297"/>
            <a:ext cx="5961578" cy="91440"/>
          </a:xfrm>
          <a:prstGeom prst="roundRect">
            <a:avLst>
              <a:gd name="adj" fmla="val 87976"/>
            </a:avLst>
          </a:prstGeom>
          <a:solidFill>
            <a:srgbClr val="4950BC"/>
          </a:solidFill>
          <a:ln/>
        </p:spPr>
      </p:sp>
      <p:sp>
        <p:nvSpPr>
          <p:cNvPr id="19" name="Shape 17"/>
          <p:cNvSpPr/>
          <p:nvPr/>
        </p:nvSpPr>
        <p:spPr>
          <a:xfrm>
            <a:off x="3951327" y="4203859"/>
            <a:ext cx="574596" cy="574596"/>
          </a:xfrm>
          <a:prstGeom prst="roundRect">
            <a:avLst>
              <a:gd name="adj" fmla="val 159138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4123730" y="4347448"/>
            <a:ext cx="229791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72208" y="4969907"/>
            <a:ext cx="2885718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Development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472208" y="5384006"/>
            <a:ext cx="5532953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build interactive visualisations across all six analysis dimensions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10926" y="4491157"/>
            <a:ext cx="5961578" cy="1720096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10926" y="4468297"/>
            <a:ext cx="5961578" cy="91440"/>
          </a:xfrm>
          <a:prstGeom prst="roundRect">
            <a:avLst>
              <a:gd name="adj" fmla="val 87976"/>
            </a:avLst>
          </a:prstGeom>
          <a:solidFill>
            <a:srgbClr val="4950B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04358" y="4203859"/>
            <a:ext cx="574596" cy="574596"/>
          </a:xfrm>
          <a:prstGeom prst="roundRect">
            <a:avLst>
              <a:gd name="adj" fmla="val 159138"/>
            </a:avLst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10276761" y="4347448"/>
            <a:ext cx="229791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5239" y="4969907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&amp; Reporting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25239" y="5384006"/>
            <a:ext cx="5532953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findings, prepare recommendations, and present actionable insights to stakeholders in the final phase</a:t>
            </a:r>
            <a:endParaRPr lang="en-US" sz="15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64C331-39F5-46B8-9F21-F68DFC759857}"/>
              </a:ext>
            </a:extLst>
          </p:cNvPr>
          <p:cNvSpPr/>
          <p:nvPr/>
        </p:nvSpPr>
        <p:spPr>
          <a:xfrm>
            <a:off x="12709003" y="7731889"/>
            <a:ext cx="181722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911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Bold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david m</cp:lastModifiedBy>
  <cp:revision>3</cp:revision>
  <dcterms:created xsi:type="dcterms:W3CDTF">2026-01-08T05:44:44Z</dcterms:created>
  <dcterms:modified xsi:type="dcterms:W3CDTF">2026-01-08T06:28:22Z</dcterms:modified>
</cp:coreProperties>
</file>